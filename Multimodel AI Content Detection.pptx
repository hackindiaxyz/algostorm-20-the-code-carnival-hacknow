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Montserrat SemiBold" panose="020B060402020202020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20B0604020202020204" charset="0"/>
      <p:regular r:id="rId19"/>
      <p:bold r:id="rId20"/>
      <p:boldItalic r:id="rId21"/>
    </p:embeddedFont>
    <p:embeddedFont>
      <p:font typeface="Montserrat Bold" panose="020B0604020202020204" charset="0"/>
      <p:regular r:id="rId22"/>
    </p:embeddedFont>
    <p:embeddedFont>
      <p:font typeface="Montserrat Black" panose="020B060402020202020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6A2829E-7A21-4282-9C11-78F025D4DB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8cR+BmbzqaOCf1bmf1L0xYBnE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43" d="100"/>
          <a:sy n="43" d="100"/>
        </p:scale>
        <p:origin x="7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1145912" y="6566577"/>
            <a:ext cx="991268" cy="0"/>
          </a:xfrm>
          <a:prstGeom prst="straightConnector1">
            <a:avLst/>
          </a:prstGeom>
          <a:noFill/>
          <a:ln w="9525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1"/>
          <p:cNvSpPr/>
          <p:nvPr/>
        </p:nvSpPr>
        <p:spPr>
          <a:xfrm>
            <a:off x="4089950" y="0"/>
            <a:ext cx="10287000" cy="10594576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87" name="Google Shape;87;p1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8" name="Google Shape;88;p1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89" name="Google Shape;89;p1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" name="Google Shape;90;p1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" name="Google Shape;91;p1"/>
            <p:cNvSpPr txBox="1"/>
            <p:nvPr/>
          </p:nvSpPr>
          <p:spPr>
            <a:xfrm>
              <a:off x="8999457" y="35636"/>
              <a:ext cx="4708500" cy="3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</a:t>
              </a:r>
              <a:r>
                <a:rPr lang="en-US" sz="1877" b="1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.0</a:t>
              </a:r>
              <a:endParaRPr/>
            </a:p>
          </p:txBody>
        </p:sp>
        <p:cxnSp>
          <p:nvCxnSpPr>
            <p:cNvPr id="92" name="Google Shape;92;p1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4476794" y="1617027"/>
            <a:ext cx="9513225" cy="4790394"/>
            <a:chOff x="0" y="9525"/>
            <a:chExt cx="12684300" cy="6387192"/>
          </a:xfrm>
        </p:grpSpPr>
        <p:cxnSp>
          <p:nvCxnSpPr>
            <p:cNvPr id="94" name="Google Shape;94;p1"/>
            <p:cNvCxnSpPr/>
            <p:nvPr/>
          </p:nvCxnSpPr>
          <p:spPr>
            <a:xfrm>
              <a:off x="2113904" y="2914220"/>
              <a:ext cx="2621624" cy="0"/>
            </a:xfrm>
            <a:prstGeom prst="straightConnector1">
              <a:avLst/>
            </a:prstGeom>
            <a:noFill/>
            <a:ln w="536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1"/>
            <p:cNvSpPr txBox="1"/>
            <p:nvPr/>
          </p:nvSpPr>
          <p:spPr>
            <a:xfrm>
              <a:off x="2113904" y="9525"/>
              <a:ext cx="8166067" cy="2904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372" b="1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BUILD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5103149" y="2453124"/>
              <a:ext cx="2137239" cy="814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28" b="1" i="0" u="none" strike="noStrike" cap="none">
                  <a:solidFill>
                    <a:srgbClr val="8725B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</a:t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2508391"/>
              <a:ext cx="12684300" cy="35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84" b="1" i="0" u="none" strike="noStrike" cap="none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भारत </a:t>
              </a:r>
              <a:r>
                <a:rPr lang="en-US" sz="17084" b="1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4</a:t>
              </a:r>
              <a:r>
                <a:rPr lang="en-US" sz="17084" b="1" i="0" u="none" strike="noStrike" cap="none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.0</a:t>
              </a:r>
              <a:endParaRPr/>
            </a:p>
          </p:txBody>
        </p:sp>
        <p:cxnSp>
          <p:nvCxnSpPr>
            <p:cNvPr id="98" name="Google Shape;98;p1"/>
            <p:cNvCxnSpPr/>
            <p:nvPr/>
          </p:nvCxnSpPr>
          <p:spPr>
            <a:xfrm>
              <a:off x="7435996" y="2941028"/>
              <a:ext cx="2621624" cy="0"/>
            </a:xfrm>
            <a:prstGeom prst="straightConnector1">
              <a:avLst/>
            </a:prstGeom>
            <a:noFill/>
            <a:ln w="536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9" name="Google Shape;99;p1"/>
            <p:cNvGrpSpPr/>
            <p:nvPr/>
          </p:nvGrpSpPr>
          <p:grpSpPr>
            <a:xfrm>
              <a:off x="5153487" y="6079875"/>
              <a:ext cx="290541" cy="290541"/>
              <a:chOff x="0" y="0"/>
              <a:chExt cx="812800" cy="81280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>
              <a:off x="6051667" y="6106176"/>
              <a:ext cx="290541" cy="290541"/>
              <a:chOff x="0" y="0"/>
              <a:chExt cx="812800" cy="812800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D"/>
              </a:solidFill>
              <a:ln w="9525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1"/>
            <p:cNvGrpSpPr/>
            <p:nvPr/>
          </p:nvGrpSpPr>
          <p:grpSpPr>
            <a:xfrm>
              <a:off x="6949848" y="6106176"/>
              <a:ext cx="290541" cy="290541"/>
              <a:chOff x="0" y="0"/>
              <a:chExt cx="812800" cy="812800"/>
            </a:xfrm>
          </p:grpSpPr>
          <p:sp>
            <p:nvSpPr>
              <p:cNvPr id="106" name="Google Shape;106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76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1"/>
            <p:cNvSpPr txBox="1"/>
            <p:nvPr/>
          </p:nvSpPr>
          <p:spPr>
            <a:xfrm>
              <a:off x="2071300" y="5457650"/>
              <a:ext cx="8251274" cy="462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>
                  <a:solidFill>
                    <a:srgbClr val="22222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NATIONAL LEVEL HACKATHON</a:t>
              </a:r>
              <a:endParaRPr/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145912" y="7015770"/>
            <a:ext cx="7329305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530" b="1" i="0" u="none" strike="noStrike" cap="none" dirty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TEAM NAME</a:t>
            </a:r>
            <a:r>
              <a:rPr lang="en-US" sz="2530" b="1" i="0" u="none" strike="noStrike" cap="none" dirty="0" smtClean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 </a:t>
            </a:r>
            <a:r>
              <a:rPr lang="en-US" sz="2800" b="1" dirty="0" err="1">
                <a:solidFill>
                  <a:srgbClr val="FF5C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Codetech</a:t>
            </a:r>
            <a:endParaRPr lang="en-US" sz="2800" b="1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1"/>
          <p:cNvSpPr txBox="1"/>
          <p:nvPr/>
        </p:nvSpPr>
        <p:spPr>
          <a:xfrm>
            <a:off x="1182276" y="7614128"/>
            <a:ext cx="16023684" cy="54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530" b="1" i="0" u="none" strike="noStrike" cap="none" dirty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 STATEMENT</a:t>
            </a:r>
            <a:r>
              <a:rPr lang="en-US" sz="1200" b="1" i="0" u="none" strike="noStrike" cap="none" dirty="0" smtClean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en-US" sz="2400" dirty="0">
                <a:solidFill>
                  <a:srgbClr val="FF5C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Multimodal AI Content Detection &amp; Explainable Digital Authenticity</a:t>
            </a:r>
            <a:endParaRPr sz="2400" dirty="0"/>
          </a:p>
        </p:txBody>
      </p:sp>
      <p:sp>
        <p:nvSpPr>
          <p:cNvPr id="111" name="Google Shape;111;p1"/>
          <p:cNvSpPr txBox="1"/>
          <p:nvPr/>
        </p:nvSpPr>
        <p:spPr>
          <a:xfrm>
            <a:off x="1211859" y="8276873"/>
            <a:ext cx="15125421" cy="54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0" b="1" i="0" u="none" strike="noStrike" cap="none" dirty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TEAM MEMBERS</a:t>
            </a:r>
            <a:r>
              <a:rPr lang="en-US" sz="2530" b="1" i="0" u="none" strike="noStrike" cap="none" dirty="0" smtClean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</a:t>
            </a:r>
            <a:r>
              <a:rPr lang="en-US" sz="2530" b="1" i="0" u="none" strike="noStrike" cap="none" dirty="0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VIVEK </a:t>
            </a:r>
            <a:r>
              <a:rPr lang="en-US" sz="2530" b="1" i="0" u="none" strike="noStrike" cap="none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</a:t>
            </a:r>
            <a:r>
              <a:rPr lang="en-US" sz="2530" b="1" i="0" u="none" strike="noStrike" cap="none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ARUSHI </a:t>
            </a:r>
            <a:r>
              <a:rPr lang="en-US" sz="2530" b="1" i="0" u="none" strike="noStrike" cap="none" dirty="0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ADITYA , ANSHUL </a:t>
            </a:r>
            <a:r>
              <a:rPr lang="en-US" sz="2530" b="1" dirty="0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</a:t>
            </a:r>
            <a:r>
              <a:rPr lang="en-US" sz="2530" b="1" i="0" u="none" strike="noStrike" cap="none" dirty="0" smtClean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ASHKAND 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145912" y="8848686"/>
            <a:ext cx="11716648" cy="54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0" b="1" i="0" u="none" strike="noStrike" cap="none" dirty="0" smtClean="0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COLLEGE:  </a:t>
            </a:r>
            <a:r>
              <a:rPr lang="en-US" sz="2530" b="1" i="0" u="none" strike="noStrike" cap="none" dirty="0" smtClean="0">
                <a:solidFill>
                  <a:srgbClr val="C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KCC  Institute of Technology and  Management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8675659" y="13303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1" b="-14342"/>
            </a:stretch>
          </a:blipFill>
          <a:ln>
            <a:noFill/>
          </a:ln>
        </p:spPr>
      </p:sp>
      <p:pic>
        <p:nvPicPr>
          <p:cNvPr id="114" name="Google Shape;1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0962" y="194675"/>
            <a:ext cx="1393754" cy="167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2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2"/>
          <p:cNvSpPr/>
          <p:nvPr/>
        </p:nvSpPr>
        <p:spPr>
          <a:xfrm>
            <a:off x="1017192" y="2846920"/>
            <a:ext cx="15468600" cy="6351301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  <p:txBody>
          <a:bodyPr/>
          <a:lstStyle/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is full of realistic content created by AI (images, videos, voices, documents) in seconds.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users lack the tools or technical knowledge to verify authenticity themselves.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Gap: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Existing tools provide raw/opaque percentages (e.g., "92% AI") without explaining the cause.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Fragmented Tools: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Users are forced to check images, audio, and provenance separately across different platforms.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10834269" y="2063156"/>
            <a:ext cx="7084942" cy="262728"/>
            <a:chOff x="0" y="0"/>
            <a:chExt cx="9446588" cy="350304"/>
          </a:xfrm>
        </p:grpSpPr>
        <p:cxnSp>
          <p:nvCxnSpPr>
            <p:cNvPr id="122" name="Google Shape;122;p2"/>
            <p:cNvCxnSpPr/>
            <p:nvPr/>
          </p:nvCxnSpPr>
          <p:spPr>
            <a:xfrm>
              <a:off x="0" y="175152"/>
              <a:ext cx="9342136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3" name="Google Shape;123;p2"/>
            <p:cNvGrpSpPr/>
            <p:nvPr/>
          </p:nvGrpSpPr>
          <p:grpSpPr>
            <a:xfrm>
              <a:off x="9096284" y="0"/>
              <a:ext cx="350304" cy="350304"/>
              <a:chOff x="0" y="0"/>
              <a:chExt cx="812800" cy="812800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6" name="Google Shape;126;p2"/>
          <p:cNvSpPr txBox="1"/>
          <p:nvPr/>
        </p:nvSpPr>
        <p:spPr>
          <a:xfrm>
            <a:off x="834817" y="1703982"/>
            <a:ext cx="999945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grpSp>
        <p:nvGrpSpPr>
          <p:cNvPr id="127" name="Google Shape;127;p2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28" name="Google Shape;128;p2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9" name="Google Shape;129;p2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Google Shape;131;p2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2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33" name="Google Shape;133;p2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4" name="Google Shape;134;p2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1" b="-14342"/>
            </a:stretch>
          </a:blipFill>
          <a:ln>
            <a:noFill/>
          </a:ln>
        </p:spPr>
      </p:sp>
      <p:pic>
        <p:nvPicPr>
          <p:cNvPr id="135" name="Google Shape;13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365760" y="2612122"/>
            <a:ext cx="17290722" cy="7982453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</p:sp>
      <p:sp>
        <p:nvSpPr>
          <p:cNvPr id="141" name="Google Shape;141;p3"/>
          <p:cNvSpPr txBox="1"/>
          <p:nvPr/>
        </p:nvSpPr>
        <p:spPr>
          <a:xfrm>
            <a:off x="834817" y="1703982"/>
            <a:ext cx="459777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" name="Google Shape;143;p3"/>
          <p:cNvGrpSpPr/>
          <p:nvPr/>
        </p:nvGrpSpPr>
        <p:grpSpPr>
          <a:xfrm>
            <a:off x="5432593" y="2063156"/>
            <a:ext cx="12486618" cy="262728"/>
            <a:chOff x="0" y="0"/>
            <a:chExt cx="16648823" cy="350304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0" y="175152"/>
              <a:ext cx="16544370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45" name="Google Shape;145;p3"/>
            <p:cNvGrpSpPr/>
            <p:nvPr/>
          </p:nvGrpSpPr>
          <p:grpSpPr>
            <a:xfrm>
              <a:off x="16298519" y="0"/>
              <a:ext cx="350304" cy="350304"/>
              <a:chOff x="0" y="0"/>
              <a:chExt cx="812800" cy="81280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" name="Google Shape;148;p3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49" name="Google Shape;149;p3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50" name="Google Shape;150;p3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2" name="Google Shape;152;p3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" name="Google Shape;153;p3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54" name="Google Shape;154;p3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5" name="Google Shape;155;p3"/>
          <p:cNvSpPr/>
          <p:nvPr/>
        </p:nvSpPr>
        <p:spPr>
          <a:xfrm>
            <a:off x="9596214" y="2237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156" name="Google Shape;15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0138" y="2357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65760" y="2902919"/>
            <a:ext cx="9093033" cy="672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unified digital authenticity assistant providing a single pipeline for multimodal content.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Workflow: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Upload -&gt; Identify Media Type -&gt; Run Specific Checks -&gt; Inspect Metadata/Provenance -&gt; Explain Result.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Focuses on evidence-based decision support rather than an opaque, single confidence score.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Communicates confidence alongside uncertainty responsibly.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903" y="2551874"/>
            <a:ext cx="8994098" cy="7014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426166" y="2836139"/>
            <a:ext cx="17361680" cy="6851612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pPr>
              <a:lnSpc>
                <a:spcPct val="140000"/>
              </a:lnSpc>
            </a:pPr>
            <a:endParaRPr lang="en-US" dirty="0"/>
          </a:p>
        </p:txBody>
      </p:sp>
      <p:sp>
        <p:nvSpPr>
          <p:cNvPr id="162" name="Google Shape;162;p4"/>
          <p:cNvSpPr txBox="1"/>
          <p:nvPr/>
        </p:nvSpPr>
        <p:spPr>
          <a:xfrm>
            <a:off x="834817" y="1703982"/>
            <a:ext cx="889105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FLOW OF SOLUTION</a:t>
            </a:r>
            <a:endParaRPr/>
          </a:p>
        </p:txBody>
      </p:sp>
      <p:cxnSp>
        <p:nvCxnSpPr>
          <p:cNvPr id="163" name="Google Shape;163;p4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4" name="Google Shape;164;p4"/>
          <p:cNvGrpSpPr/>
          <p:nvPr/>
        </p:nvGrpSpPr>
        <p:grpSpPr>
          <a:xfrm>
            <a:off x="9725874" y="2063156"/>
            <a:ext cx="8193336" cy="262728"/>
            <a:chOff x="0" y="0"/>
            <a:chExt cx="10924448" cy="350304"/>
          </a:xfrm>
        </p:grpSpPr>
        <p:cxnSp>
          <p:nvCxnSpPr>
            <p:cNvPr id="165" name="Google Shape;165;p4"/>
            <p:cNvCxnSpPr/>
            <p:nvPr/>
          </p:nvCxnSpPr>
          <p:spPr>
            <a:xfrm>
              <a:off x="0" y="175152"/>
              <a:ext cx="10924448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66" name="Google Shape;166;p4"/>
            <p:cNvGrpSpPr/>
            <p:nvPr/>
          </p:nvGrpSpPr>
          <p:grpSpPr>
            <a:xfrm>
              <a:off x="10574144" y="0"/>
              <a:ext cx="350304" cy="350304"/>
              <a:chOff x="0" y="0"/>
              <a:chExt cx="812800" cy="81280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9" name="Google Shape;169;p4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70" name="Google Shape;170;p4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1" name="Google Shape;171;p4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72" name="Google Shape;172;p4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Google Shape;173;p4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4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75" name="Google Shape;175;p4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6" name="Google Shape;176;p4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177" name="Google Shape;17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528997" y="2794581"/>
            <a:ext cx="15005154" cy="786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650"/>
              </a:spcAft>
            </a:pPr>
            <a:r>
              <a:rPr 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Pipeline</a:t>
            </a:r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</a:t>
            </a:r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Upload -&gt; Identify -&gt; Analyze -&gt; Verify -&gt; Explain</a:t>
            </a:r>
            <a:r>
              <a:rPr lang="en-US" dirty="0">
                <a:solidFill>
                  <a:srgbClr val="FF5C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74360" y="4032789"/>
            <a:ext cx="8604355" cy="5480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43840" indent="-24384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2400" b="1" i="1" dirty="0" smtClean="0">
                <a:solidFill>
                  <a:srgbClr val="FFF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Detection:</a:t>
            </a:r>
            <a:r>
              <a:rPr lang="en-US" sz="2400" b="1" i="1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Identifies signals associated with synthetic generation.</a:t>
            </a:r>
            <a:endParaRPr lang="en-US" sz="2400" b="1" i="1" dirty="0" smtClean="0">
              <a:solidFill>
                <a:srgbClr val="FFFF00"/>
              </a:solidFill>
            </a:endParaRPr>
          </a:p>
          <a:p>
            <a:pPr marL="243840" indent="-243840">
              <a:lnSpc>
                <a:spcPct val="140000"/>
              </a:lnSpc>
              <a:buSzPct val="100000"/>
              <a:buFont typeface="+mj-lt"/>
              <a:buAutoNum type="arabicPeriod" startAt="2"/>
            </a:pPr>
            <a:r>
              <a:rPr lang="en-US" sz="2400" b="1" i="1" dirty="0" smtClean="0">
                <a:solidFill>
                  <a:srgbClr val="FFF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Manipulation Analysis:</a:t>
            </a:r>
            <a:r>
              <a:rPr lang="en-US" sz="2400" b="1" i="1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Detects signs of editing, compositing, or </a:t>
            </a:r>
            <a:r>
              <a:rPr lang="en-US" sz="2400" b="1" i="1" dirty="0" err="1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r>
              <a:rPr lang="en-US" sz="2400" b="1" i="1" dirty="0" err="1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eepfakes</a:t>
            </a:r>
            <a:r>
              <a:rPr lang="en-US" sz="2400" b="1" i="1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400" b="1" i="1" dirty="0" smtClean="0">
              <a:solidFill>
                <a:srgbClr val="FFFF00"/>
              </a:solidFill>
            </a:endParaRPr>
          </a:p>
          <a:p>
            <a:pPr marL="243840" indent="-243840">
              <a:lnSpc>
                <a:spcPct val="140000"/>
              </a:lnSpc>
              <a:buSzPct val="100000"/>
              <a:buFont typeface="+mj-lt"/>
              <a:buAutoNum type="arabicPeriod" startAt="3"/>
            </a:pPr>
            <a:r>
              <a:rPr lang="en-US" sz="2400" b="1" i="1" dirty="0" smtClean="0">
                <a:solidFill>
                  <a:srgbClr val="FFF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Metadata &amp; Provenance:</a:t>
            </a:r>
            <a:r>
              <a:rPr lang="en-US" sz="2400" b="1" i="1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Inspects C2PA / Content Credentials and file history.</a:t>
            </a:r>
            <a:endParaRPr lang="en-US" sz="2400" b="1" i="1" dirty="0" smtClean="0">
              <a:solidFill>
                <a:srgbClr val="FFFF00"/>
              </a:solidFill>
            </a:endParaRPr>
          </a:p>
          <a:p>
            <a:pPr marL="243840" indent="-243840">
              <a:lnSpc>
                <a:spcPct val="140000"/>
              </a:lnSpc>
              <a:buSzPct val="100000"/>
              <a:buFont typeface="+mj-lt"/>
              <a:buAutoNum type="arabicPeriod" startAt="4"/>
            </a:pPr>
            <a:r>
              <a:rPr lang="en-US" sz="2400" b="1" i="1" dirty="0" smtClean="0">
                <a:solidFill>
                  <a:srgbClr val="FFF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Fusion:</a:t>
            </a:r>
            <a:r>
              <a:rPr lang="en-US" sz="2400" b="1" i="1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Evaluates if signals agree, disagree, or show uncertainty.</a:t>
            </a:r>
            <a:endParaRPr lang="en-US" sz="2400" b="1" i="1" dirty="0" smtClean="0">
              <a:solidFill>
                <a:srgbClr val="FFFF00"/>
              </a:solidFill>
            </a:endParaRPr>
          </a:p>
          <a:p>
            <a:endParaRPr lang="en-IN" sz="2400" b="1" i="1" dirty="0">
              <a:solidFill>
                <a:srgbClr val="FFFF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058" y="3580887"/>
            <a:ext cx="8733787" cy="5985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557529" y="2806896"/>
            <a:ext cx="9905605" cy="6759835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  <p:txBody>
          <a:bodyPr/>
          <a:lstStyle/>
          <a:p>
            <a:pPr marL="264160" indent="-2641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Frontend: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React, HTML, CSS, JavaScript</a:t>
            </a:r>
            <a:endParaRPr lang="en-US" sz="3200" b="1" dirty="0">
              <a:solidFill>
                <a:srgbClr val="0070C0"/>
              </a:solidFill>
            </a:endParaRPr>
          </a:p>
          <a:p>
            <a:pPr marL="264160" indent="-2641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Backend: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Python, </a:t>
            </a:r>
            <a:r>
              <a:rPr lang="en-US" sz="3200" b="1" dirty="0" err="1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Flask</a:t>
            </a:r>
            <a:endParaRPr lang="en-US" sz="3200" b="1" dirty="0">
              <a:solidFill>
                <a:srgbClr val="0070C0"/>
              </a:solidFill>
            </a:endParaRPr>
          </a:p>
          <a:p>
            <a:pPr marL="264160" indent="-2641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AI/ML &amp; Vision: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PyTorch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3200" b="1" dirty="0" err="1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TensorFlow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3200" b="1" dirty="0" err="1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OpenCV</a:t>
            </a:r>
            <a:endParaRPr lang="en-US" sz="3200" b="1" dirty="0">
              <a:solidFill>
                <a:srgbClr val="0070C0"/>
              </a:solidFill>
            </a:endParaRPr>
          </a:p>
          <a:p>
            <a:pPr marL="264160" indent="-2641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Audio &amp; Documents: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 Audio Libraries, OCR, Metadata Analysis Tools</a:t>
            </a:r>
            <a:endParaRPr lang="en-US" sz="3200" b="1" dirty="0">
              <a:solidFill>
                <a:srgbClr val="0070C0"/>
              </a:solidFill>
            </a:endParaRPr>
          </a:p>
          <a:p>
            <a:pPr marL="264160" indent="-2641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Provenance &amp; Verification:</a:t>
            </a:r>
            <a:r>
              <a:rPr lang="en-US" sz="32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C2PA / Content Credentials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834817" y="1703982"/>
            <a:ext cx="565030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STACK</a:t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85" name="Google Shape;185;p5"/>
          <p:cNvGrpSpPr/>
          <p:nvPr/>
        </p:nvGrpSpPr>
        <p:grpSpPr>
          <a:xfrm>
            <a:off x="6485126" y="2063156"/>
            <a:ext cx="11434084" cy="262728"/>
            <a:chOff x="0" y="0"/>
            <a:chExt cx="15245446" cy="350304"/>
          </a:xfrm>
        </p:grpSpPr>
        <p:cxnSp>
          <p:nvCxnSpPr>
            <p:cNvPr id="186" name="Google Shape;186;p5"/>
            <p:cNvCxnSpPr/>
            <p:nvPr/>
          </p:nvCxnSpPr>
          <p:spPr>
            <a:xfrm>
              <a:off x="0" y="175152"/>
              <a:ext cx="15140994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87" name="Google Shape;187;p5"/>
            <p:cNvGrpSpPr/>
            <p:nvPr/>
          </p:nvGrpSpPr>
          <p:grpSpPr>
            <a:xfrm>
              <a:off x="14895142" y="0"/>
              <a:ext cx="350304" cy="350304"/>
              <a:chOff x="0" y="0"/>
              <a:chExt cx="812800" cy="812800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" name="Google Shape;190;p5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91" name="Google Shape;191;p5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92" name="Google Shape;192;p5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4" name="Google Shape;194;p5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" name="Google Shape;195;p5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7" name="Google Shape;197;p5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198" name="Google Shape;19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439" y="2301253"/>
            <a:ext cx="8114576" cy="7608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161201" y="2276287"/>
            <a:ext cx="17823305" cy="8042869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  <p:txBody>
          <a:bodyPr>
            <a:scene3d>
              <a:camera prst="perspectiveBelow"/>
              <a:lightRig rig="threePt" dir="t"/>
            </a:scene3d>
          </a:bodyPr>
          <a:lstStyle/>
          <a:p>
            <a:r>
              <a:rPr lang="en-US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                     </a:t>
            </a:r>
          </a:p>
          <a:p>
            <a:r>
              <a:rPr lang="en-US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					Don't just say "FAKE" — Explain the evidence</a:t>
            </a:r>
            <a:endParaRPr lang="en-US" sz="3200" b="1" dirty="0" smtClean="0"/>
          </a:p>
          <a:p>
            <a:endParaRPr lang="en-IN" sz="3200" b="1" dirty="0"/>
          </a:p>
        </p:txBody>
      </p:sp>
      <p:sp>
        <p:nvSpPr>
          <p:cNvPr id="204" name="Google Shape;204;p6"/>
          <p:cNvSpPr txBox="1"/>
          <p:nvPr/>
        </p:nvSpPr>
        <p:spPr>
          <a:xfrm>
            <a:off x="834817" y="1703982"/>
            <a:ext cx="14041391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1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UNIQUE SELLING PROPOSITION (USP)</a:t>
            </a:r>
            <a:endParaRPr dirty="0"/>
          </a:p>
        </p:txBody>
      </p:sp>
      <p:cxnSp>
        <p:nvCxnSpPr>
          <p:cNvPr id="205" name="Google Shape;205;p6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6" name="Google Shape;206;p6"/>
          <p:cNvGrpSpPr/>
          <p:nvPr/>
        </p:nvGrpSpPr>
        <p:grpSpPr>
          <a:xfrm>
            <a:off x="14876208" y="2001244"/>
            <a:ext cx="3043003" cy="262728"/>
            <a:chOff x="0" y="0"/>
            <a:chExt cx="4057337" cy="350304"/>
          </a:xfrm>
        </p:grpSpPr>
        <p:cxnSp>
          <p:nvCxnSpPr>
            <p:cNvPr id="207" name="Google Shape;207;p6"/>
            <p:cNvCxnSpPr/>
            <p:nvPr/>
          </p:nvCxnSpPr>
          <p:spPr>
            <a:xfrm>
              <a:off x="0" y="175152"/>
              <a:ext cx="3882184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8" name="Google Shape;208;p6"/>
            <p:cNvGrpSpPr/>
            <p:nvPr/>
          </p:nvGrpSpPr>
          <p:grpSpPr>
            <a:xfrm>
              <a:off x="3707033" y="0"/>
              <a:ext cx="350304" cy="350304"/>
              <a:chOff x="0" y="0"/>
              <a:chExt cx="812800" cy="812800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1" name="Google Shape;211;p6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12" name="Google Shape;212;p6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13" name="Google Shape;213;p6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6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17" name="Google Shape;217;p6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8" name="Google Shape;218;p6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19" name="Google Shape;21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834817" y="4245561"/>
            <a:ext cx="6315756" cy="4312122"/>
          </a:xfrm>
          <a:prstGeom prst="roundRect">
            <a:avLst/>
          </a:prstGeom>
          <a:scene3d>
            <a:camera prst="perspective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800" dirty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Typical </a:t>
            </a:r>
            <a:r>
              <a:rPr lang="en-US" sz="2800" dirty="0" smtClean="0">
                <a:solidFill>
                  <a:srgbClr val="FF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IN" dirty="0" smtClean="0">
              <a:solidFill>
                <a:srgbClr val="FFFF00"/>
              </a:solidFill>
            </a:endParaRPr>
          </a:p>
          <a:p>
            <a:pPr lvl="1" algn="ctr"/>
            <a:r>
              <a:rPr lang="en-US" sz="28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 a mysterious number like "AI Generated - 92%"</a:t>
            </a:r>
            <a:endParaRPr lang="en-US" sz="2800" dirty="0">
              <a:solidFill>
                <a:schemeClr val="tx2"/>
              </a:solidFill>
            </a:endParaRPr>
          </a:p>
          <a:p>
            <a:pPr lvl="1" algn="ctr"/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951746" y="5723920"/>
            <a:ext cx="3076674" cy="1033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ed Rectangle 3"/>
          <p:cNvSpPr/>
          <p:nvPr/>
        </p:nvSpPr>
        <p:spPr>
          <a:xfrm>
            <a:off x="10193311" y="3783132"/>
            <a:ext cx="7463171" cy="4915073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>
            <a:scene3d>
              <a:camera prst="isometricOffAxis2Lef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smtClean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	</a:t>
            </a:r>
            <a:r>
              <a:rPr lang="en-US" sz="3200" i="1" dirty="0" smtClean="0">
                <a:solidFill>
                  <a:schemeClr val="accent4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i="1" dirty="0">
                <a:solidFill>
                  <a:schemeClr val="accent4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</a:t>
            </a:r>
            <a:r>
              <a:rPr lang="en-US" sz="3200" i="1" dirty="0" smtClean="0">
                <a:solidFill>
                  <a:schemeClr val="accent4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3200" i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sz="2400" dirty="0" smtClean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 </a:t>
            </a:r>
            <a:r>
              <a:rPr lang="en-US" sz="240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"High authenticity risk" + explicit signals </a:t>
            </a:r>
            <a:endParaRPr lang="en-US" sz="2400" dirty="0" smtClean="0">
              <a:solidFill>
                <a:srgbClr val="00B0F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2400" dirty="0" smtClean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e.g., AI signal detected + manipulation indicator + no verifiable provenance found</a:t>
            </a:r>
            <a:r>
              <a:rPr lang="en-US" sz="240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9528" y="8869593"/>
            <a:ext cx="17068318" cy="841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Contrast:</a:t>
            </a:r>
            <a:r>
              <a:rPr lang="en-US" sz="2400" b="1" dirty="0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Gives clear reasoning and human-understandable report explanations</a:t>
            </a:r>
            <a:endParaRPr lang="en-IN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389744" y="3076944"/>
            <a:ext cx="17898256" cy="7019507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  <p:txBody>
          <a:bodyPr/>
          <a:lstStyle/>
          <a:p>
            <a:r>
              <a:rPr lang="en-US" sz="2400" b="1" dirty="0">
                <a:solidFill>
                  <a:schemeClr val="accent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Existing Landscape</a:t>
            </a:r>
            <a:r>
              <a:rPr lang="en-US" b="1" dirty="0" smtClean="0">
                <a:solidFill>
                  <a:schemeClr val="accent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</a:t>
            </a:r>
          </a:p>
          <a:p>
            <a:endParaRPr lang="en-US" b="1" dirty="0">
              <a:latin typeface="Montserrat Bold" pitchFamily="34" charset="0"/>
              <a:cs typeface="Montserrat Bold" pitchFamily="34" charset="-120"/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Hive (AI-generated content &amp;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deepfake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detection)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Reality Defender (Multimodal synthetic-media detection)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C2PA / Content Credentials (Verifiable origin/provenance</a:t>
            </a:r>
            <a:r>
              <a:rPr lang="en-US" dirty="0" smtClean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endParaRPr lang="en-US" dirty="0">
              <a:latin typeface="Montserrat" pitchFamily="34" charset="0"/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endParaRPr lang="en-US" dirty="0" smtClean="0">
              <a:latin typeface="Montserrat" pitchFamily="34" charset="0"/>
            </a:endParaRPr>
          </a:p>
          <a:p>
            <a:pPr>
              <a:lnSpc>
                <a:spcPct val="140000"/>
              </a:lnSpc>
              <a:spcAft>
                <a:spcPts val="1650"/>
              </a:spcAf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Edge: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Connects separate detection capabilities into one clear, integrated, evidence-based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		user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experience.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Feasibility (MVP Scope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):</a:t>
            </a: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b="1" dirty="0">
                <a:solidFill>
                  <a:srgbClr val="500FE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Hackathon MVP:</a:t>
            </a:r>
            <a:r>
              <a:rPr lang="en-US" sz="2800" dirty="0">
                <a:solidFill>
                  <a:srgbClr val="500F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Image + Video analysis pipeline.</a:t>
            </a:r>
            <a:endParaRPr lang="en-US" sz="2800" dirty="0">
              <a:solidFill>
                <a:srgbClr val="500FE1"/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2800" b="1" dirty="0">
                <a:solidFill>
                  <a:srgbClr val="500FE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Next Scope Expansion:</a:t>
            </a:r>
            <a:r>
              <a:rPr lang="en-US" sz="2800" dirty="0">
                <a:solidFill>
                  <a:srgbClr val="500F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Audio detection module.</a:t>
            </a:r>
            <a:endParaRPr lang="en-US" sz="2800" dirty="0">
              <a:solidFill>
                <a:srgbClr val="500FE1"/>
              </a:solidFill>
            </a:endParaRPr>
          </a:p>
          <a:p>
            <a:pPr>
              <a:lnSpc>
                <a:spcPct val="140000"/>
              </a:lnSpc>
            </a:pPr>
            <a:endParaRPr lang="en-US" sz="2800" dirty="0" smtClean="0">
              <a:solidFill>
                <a:srgbClr val="500FE1"/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225" name="Google Shape;225;p7"/>
          <p:cNvSpPr txBox="1"/>
          <p:nvPr/>
        </p:nvSpPr>
        <p:spPr>
          <a:xfrm>
            <a:off x="834817" y="1703982"/>
            <a:ext cx="1248184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FEASIBILITY &amp; COMPETITORS</a:t>
            </a:r>
            <a:endParaRPr dirty="0"/>
          </a:p>
        </p:txBody>
      </p:sp>
      <p:cxnSp>
        <p:nvCxnSpPr>
          <p:cNvPr id="226" name="Google Shape;226;p7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7" name="Google Shape;227;p7"/>
          <p:cNvGrpSpPr/>
          <p:nvPr/>
        </p:nvGrpSpPr>
        <p:grpSpPr>
          <a:xfrm>
            <a:off x="13316657" y="2063156"/>
            <a:ext cx="4602553" cy="262728"/>
            <a:chOff x="0" y="0"/>
            <a:chExt cx="6136737" cy="350304"/>
          </a:xfrm>
        </p:grpSpPr>
        <p:cxnSp>
          <p:nvCxnSpPr>
            <p:cNvPr id="228" name="Google Shape;228;p7"/>
            <p:cNvCxnSpPr/>
            <p:nvPr/>
          </p:nvCxnSpPr>
          <p:spPr>
            <a:xfrm>
              <a:off x="0" y="175152"/>
              <a:ext cx="6032285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29" name="Google Shape;229;p7"/>
            <p:cNvGrpSpPr/>
            <p:nvPr/>
          </p:nvGrpSpPr>
          <p:grpSpPr>
            <a:xfrm>
              <a:off x="5786433" y="0"/>
              <a:ext cx="350304" cy="350304"/>
              <a:chOff x="0" y="0"/>
              <a:chExt cx="812800" cy="8128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7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33" name="Google Shape;233;p7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4" name="Google Shape;234;p7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35" name="Google Shape;235;p7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Google Shape;236;p7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" name="Google Shape;237;p7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38" name="Google Shape;238;p7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9" name="Google Shape;239;p7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182839" y="4946523"/>
            <a:ext cx="184731" cy="3593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8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w="190500" cap="flat" cmpd="sng">
            <a:solidFill>
              <a:srgbClr val="FF5C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8"/>
          <p:cNvSpPr/>
          <p:nvPr/>
        </p:nvSpPr>
        <p:spPr>
          <a:xfrm>
            <a:off x="508042" y="3440768"/>
            <a:ext cx="17013836" cy="5954561"/>
          </a:xfrm>
          <a:custGeom>
            <a:avLst/>
            <a:gdLst/>
            <a:ahLst/>
            <a:cxnLst/>
            <a:rect l="l" t="t" r="r" b="b"/>
            <a:pathLst>
              <a:path w="10287000" h="10594576" extrusionOk="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" r="-1494"/>
            </a:stretch>
          </a:blipFill>
          <a:ln>
            <a:noFill/>
          </a:ln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 Specifications &amp; Docs</a:t>
            </a:r>
            <a:r>
              <a:rPr lang="en-US" sz="3200" b="1" dirty="0" smtClean="0">
                <a:solidFill>
                  <a:schemeClr val="accent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</a:t>
            </a:r>
          </a:p>
          <a:p>
            <a:endParaRPr lang="en-US" sz="3200" b="1" dirty="0">
              <a:solidFill>
                <a:schemeClr val="accent1"/>
              </a:solidFill>
              <a:latin typeface="Montserrat Bold" pitchFamily="34" charset="0"/>
              <a:cs typeface="Montserrat Bold" pitchFamily="34" charset="-120"/>
            </a:endParaRPr>
          </a:p>
          <a:p>
            <a:endParaRPr lang="en-US" sz="3200" b="1" dirty="0">
              <a:solidFill>
                <a:schemeClr val="accent1"/>
              </a:solidFill>
              <a:latin typeface="Montserrat Bold" pitchFamily="34" charset="0"/>
              <a:cs typeface="Montserrat Bold" pitchFamily="34" charset="-120"/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B0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Hive AI Documentation:</a:t>
            </a:r>
            <a:r>
              <a:rPr lang="en-US" sz="3200" dirty="0">
                <a:solidFill>
                  <a:srgbClr val="00B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 generation &amp; image/video detection</a:t>
            </a:r>
            <a:endParaRPr lang="en-US" sz="3200" dirty="0">
              <a:solidFill>
                <a:srgbClr val="00B050"/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B0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Reality Defender:</a:t>
            </a:r>
            <a:r>
              <a:rPr lang="en-US" sz="3200" dirty="0">
                <a:solidFill>
                  <a:srgbClr val="00B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Multimodal </a:t>
            </a:r>
            <a:r>
              <a:rPr lang="en-US" sz="3200" dirty="0" err="1">
                <a:solidFill>
                  <a:srgbClr val="00B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deepfake</a:t>
            </a:r>
            <a:r>
              <a:rPr lang="en-US" sz="3200" dirty="0">
                <a:solidFill>
                  <a:srgbClr val="00B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detection</a:t>
            </a:r>
            <a:endParaRPr lang="en-US" sz="3200" dirty="0">
              <a:solidFill>
                <a:srgbClr val="00B050"/>
              </a:solidFill>
            </a:endParaRPr>
          </a:p>
          <a:p>
            <a:pPr marL="365760" indent="-365760">
              <a:lnSpc>
                <a:spcPct val="140000"/>
              </a:lnSpc>
              <a:buSzPct val="100000"/>
              <a:buChar char="•"/>
            </a:pPr>
            <a:r>
              <a:rPr lang="en-US" sz="3200" b="1" dirty="0">
                <a:solidFill>
                  <a:srgbClr val="00B0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C2PA Specification:</a:t>
            </a:r>
            <a:r>
              <a:rPr lang="en-US" sz="3200" dirty="0">
                <a:solidFill>
                  <a:srgbClr val="00B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Content Credentials &amp; verifiable provenance</a:t>
            </a:r>
            <a:endParaRPr lang="en-US" sz="3200" dirty="0">
              <a:solidFill>
                <a:srgbClr val="00B050"/>
              </a:solidFill>
            </a:endParaRPr>
          </a:p>
          <a:p>
            <a:r>
              <a:rPr lang="en-US" sz="3200" b="1" dirty="0" smtClean="0">
                <a:solidFill>
                  <a:srgbClr val="00B050"/>
                </a:solidFill>
              </a:rPr>
              <a:t>   And Others</a:t>
            </a:r>
            <a:endParaRPr lang="en-US" sz="3200" b="1" dirty="0">
              <a:solidFill>
                <a:srgbClr val="00B050"/>
              </a:solidFill>
            </a:endParaRPr>
          </a:p>
          <a:p>
            <a:endParaRPr lang="en-IN" dirty="0">
              <a:solidFill>
                <a:srgbClr val="00B050"/>
              </a:solidFill>
            </a:endParaRPr>
          </a:p>
        </p:txBody>
      </p:sp>
      <p:grpSp>
        <p:nvGrpSpPr>
          <p:cNvPr id="247" name="Google Shape;247;p8"/>
          <p:cNvGrpSpPr/>
          <p:nvPr/>
        </p:nvGrpSpPr>
        <p:grpSpPr>
          <a:xfrm>
            <a:off x="11807365" y="2063156"/>
            <a:ext cx="6111845" cy="262728"/>
            <a:chOff x="0" y="0"/>
            <a:chExt cx="8149126" cy="350304"/>
          </a:xfrm>
        </p:grpSpPr>
        <p:cxnSp>
          <p:nvCxnSpPr>
            <p:cNvPr id="248" name="Google Shape;248;p8"/>
            <p:cNvCxnSpPr/>
            <p:nvPr/>
          </p:nvCxnSpPr>
          <p:spPr>
            <a:xfrm>
              <a:off x="0" y="175152"/>
              <a:ext cx="8044674" cy="0"/>
            </a:xfrm>
            <a:prstGeom prst="straightConnector1">
              <a:avLst/>
            </a:prstGeom>
            <a:noFill/>
            <a:ln w="114300" cap="rnd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9" name="Google Shape;249;p8"/>
            <p:cNvGrpSpPr/>
            <p:nvPr/>
          </p:nvGrpSpPr>
          <p:grpSpPr>
            <a:xfrm>
              <a:off x="7798822" y="0"/>
              <a:ext cx="350304" cy="350304"/>
              <a:chOff x="0" y="0"/>
              <a:chExt cx="812800" cy="812800"/>
            </a:xfrm>
          </p:grpSpPr>
          <p:sp>
            <p:nvSpPr>
              <p:cNvPr id="250" name="Google Shape;250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2" name="Google Shape;252;p8"/>
          <p:cNvSpPr txBox="1"/>
          <p:nvPr/>
        </p:nvSpPr>
        <p:spPr>
          <a:xfrm>
            <a:off x="834817" y="1703982"/>
            <a:ext cx="1097254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1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</a:t>
            </a:r>
            <a:endParaRPr/>
          </a:p>
        </p:txBody>
      </p:sp>
      <p:grpSp>
        <p:nvGrpSpPr>
          <p:cNvPr id="253" name="Google Shape;253;p8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54" name="Google Shape;254;p8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w="127000" cap="flat" cmpd="sng">
              <a:solidFill>
                <a:srgbClr val="1576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5" name="Google Shape;255;p8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0" y="0"/>
                <a:ext cx="960592" cy="104371"/>
              </a:xfrm>
              <a:custGeom>
                <a:avLst/>
                <a:gdLst/>
                <a:ahLst/>
                <a:cxnLst/>
                <a:rect l="l" t="t" r="r" b="b"/>
                <a:pathLst>
                  <a:path w="960592" h="104371" extrusionOk="0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7" name="Google Shape;257;p8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" name="Google Shape;258;p8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7" b="1" i="0" u="none" strike="noStrike" cap="non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lang="en-US" sz="1877" b="1" i="0" u="none" strike="noStrike" cap="non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59" name="Google Shape;259;p8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w="127000" cap="flat" cmpd="sng">
              <a:solidFill>
                <a:srgbClr val="FF5C1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0" name="Google Shape;260;p8"/>
          <p:cNvSpPr/>
          <p:nvPr/>
        </p:nvSpPr>
        <p:spPr>
          <a:xfrm>
            <a:off x="9443814" y="71389"/>
            <a:ext cx="2442694" cy="1795778"/>
          </a:xfrm>
          <a:custGeom>
            <a:avLst/>
            <a:gdLst/>
            <a:ahLst/>
            <a:cxnLst/>
            <a:rect l="l" t="t" r="r" b="b"/>
            <a:pathLst>
              <a:path w="2442694" h="1795778" extrusionOk="0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1680" b="-14341"/>
            </a:stretch>
          </a:blipFill>
          <a:ln>
            <a:noFill/>
          </a:ln>
        </p:spPr>
      </p:sp>
      <p:pic>
        <p:nvPicPr>
          <p:cNvPr id="261" name="Google Shape;26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lowchart: Connector 1"/>
          <p:cNvSpPr/>
          <p:nvPr/>
        </p:nvSpPr>
        <p:spPr>
          <a:xfrm>
            <a:off x="674557" y="7229467"/>
            <a:ext cx="45719" cy="11571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416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Montserrat SemiBold</vt:lpstr>
      <vt:lpstr>Calibri</vt:lpstr>
      <vt:lpstr>Montserrat</vt:lpstr>
      <vt:lpstr>Montserrat Bold</vt:lpstr>
      <vt:lpstr>Montserrat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15</cp:revision>
  <dcterms:created xsi:type="dcterms:W3CDTF">2006-08-16T00:00:00Z</dcterms:created>
  <dcterms:modified xsi:type="dcterms:W3CDTF">2026-09-28T17:15:58Z</dcterms:modified>
</cp:coreProperties>
</file>